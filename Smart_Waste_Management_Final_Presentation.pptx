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384048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50292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ptos"/>
              </a:rPr>
              <a:t>IOT  |  SMART CITIES  |  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6400800" cy="868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 Display"/>
              </a:rPr>
              <a:t>Smart Waste
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64008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Real-time monitoring, automated alerts &amp; smarter collection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23160"/>
            <a:ext cx="507492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33472"/>
            <a:ext cx="2011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Aptos"/>
              </a:rPr>
              <a:t>TEAM MEMBERS</a:t>
            </a:r>
          </a:p>
        </p:txBody>
      </p:sp>
      <p:sp>
        <p:nvSpPr>
          <p:cNvPr id="8" name="Oval 7"/>
          <p:cNvSpPr/>
          <p:nvPr/>
        </p:nvSpPr>
        <p:spPr>
          <a:xfrm>
            <a:off x="786384" y="2962656"/>
            <a:ext cx="246888" cy="2468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953512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Pranshu Tyagi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300984"/>
            <a:ext cx="246888" cy="2468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291840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Varshini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639312"/>
            <a:ext cx="246888" cy="24688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630168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Apeksha MA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3977640"/>
            <a:ext cx="246888" cy="2468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968496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Hamid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09160"/>
            <a:ext cx="5074920" cy="98755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10328"/>
            <a:ext cx="141732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PROJECT 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93792"/>
            <a:ext cx="4526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Aptos"/>
              </a:rPr>
              <a:t>IoT sensors  •  cloud monitoring  •  automated alerts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841248"/>
            <a:ext cx="5623560" cy="507492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1097280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SMART BIN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1399032"/>
            <a:ext cx="43891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Sense  →  Connect  →  Monitor  →  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2057400"/>
            <a:ext cx="1874519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874519"/>
            <a:ext cx="2148840" cy="31089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0" y="2606040"/>
            <a:ext cx="384048" cy="384048"/>
          </a:xfrm>
          <a:prstGeom prst="ellipse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50608" y="2606040"/>
            <a:ext cx="384048" cy="384048"/>
          </a:xfrm>
          <a:prstGeom prst="ellipse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784848" y="3246120"/>
            <a:ext cx="1188720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84848" y="3246120"/>
            <a:ext cx="896112" cy="16459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3593592"/>
            <a:ext cx="14630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WASTE LEVEL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3858768"/>
            <a:ext cx="118872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75%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23960" y="2084831"/>
            <a:ext cx="2240280" cy="74980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979408" y="2231136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79408" y="2290572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91472" y="2185415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F172A"/>
                </a:solidFill>
                <a:latin typeface="Aptos"/>
              </a:rPr>
              <a:t>IoT Sensors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91472" y="2441448"/>
            <a:ext cx="157276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Detect bin level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23960" y="3017520"/>
            <a:ext cx="2240280" cy="749808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79408" y="316382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79408" y="3223260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91472" y="3118103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F172A"/>
                </a:solidFill>
                <a:latin typeface="Aptos"/>
              </a:rPr>
              <a:t>Cloud Monitor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91472" y="3374136"/>
            <a:ext cx="157276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Store &amp; visualize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23960" y="3950208"/>
            <a:ext cx="2240280" cy="749808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979408" y="4096512"/>
            <a:ext cx="365760" cy="36576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79408" y="4155948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91472" y="405079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F172A"/>
                </a:solidFill>
                <a:latin typeface="Aptos"/>
              </a:rPr>
              <a:t>Auto Alert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91472" y="4306824"/>
            <a:ext cx="157276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Trigger collection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5029200"/>
            <a:ext cx="18288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Aptos"/>
              </a:rPr>
              <a:t>PROJECT REVIEW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3960" y="5303520"/>
            <a:ext cx="228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Architecture • Implementation • Impact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28232"/>
            <a:ext cx="56692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SMART WASTE MANAGEMENT  •  PROJECT PRESENTATION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92840" y="6400800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110"/>
              </a:spcAft>
            </a:pPr>
            <a:r>
              <a:rPr sz="1050" b="1" i="0">
                <a:solidFill>
                  <a:srgbClr val="2563EB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6070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Aptos Display"/>
              </a:rPr>
              <a:t>From manual collection to real-time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80"/>
              </a:spcAft>
            </a:pPr>
            <a:r>
              <a:rPr sz="750" b="0" i="0">
                <a:solidFill>
                  <a:srgbClr val="475569"/>
                </a:solidFill>
                <a:latin typeface="Aptos"/>
              </a:rPr>
              <a:t>SMART WASTE MANAGEMENT  •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92240"/>
            <a:ext cx="274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65836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E293B"/>
                </a:solidFill>
                <a:latin typeface="Aptos"/>
              </a:rPr>
              <a:t>Smart Waste Management uses IoT, sensors, and communication technologies to monitor waste bins in real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76272"/>
            <a:ext cx="64008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475569"/>
                </a:solidFill>
                <a:latin typeface="Aptos"/>
              </a:rPr>
              <a:t>The system helps municipalities improve waste collection efficiency, reduce operational costs, and maintain cleaner surroundings.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71600"/>
            <a:ext cx="3977639" cy="425196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71907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2563EB"/>
                </a:solidFill>
                <a:latin typeface="Aptos"/>
              </a:rPr>
              <a:t>REAL-TIME LOOP</a:t>
            </a:r>
          </a:p>
        </p:txBody>
      </p:sp>
      <p:sp>
        <p:nvSpPr>
          <p:cNvPr id="11" name="Oval 10"/>
          <p:cNvSpPr/>
          <p:nvPr/>
        </p:nvSpPr>
        <p:spPr>
          <a:xfrm>
            <a:off x="7882127" y="214884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7" y="2240280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130552"/>
            <a:ext cx="2468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Sense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441448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ptos"/>
              </a:rPr>
              <a:t>Ultrasonic sensor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01583" y="2587752"/>
            <a:ext cx="0" cy="36576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882127" y="29718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2127" y="3063240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953512"/>
            <a:ext cx="2468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264408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ptos"/>
              </a:rPr>
              <a:t>Controller + network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01583" y="3410712"/>
            <a:ext cx="0" cy="36576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882127" y="3794760"/>
            <a:ext cx="438912" cy="43891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7" y="3886200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776472"/>
            <a:ext cx="2468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Monitor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087368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ptos"/>
              </a:rPr>
              <a:t>Cloud + dashboard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101583" y="4233672"/>
            <a:ext cx="0" cy="36576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882127" y="4617720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82127" y="4709159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599432"/>
            <a:ext cx="2468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910328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475569"/>
                </a:solidFill>
                <a:latin typeface="Aptos"/>
              </a:rPr>
              <a:t>Alert + collection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246120"/>
            <a:ext cx="2697480" cy="117043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3232" y="3447288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3502152"/>
            <a:ext cx="530352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3410712"/>
            <a:ext cx="1737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Monitor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3730752"/>
            <a:ext cx="173736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ptos"/>
              </a:rPr>
              <a:t>Waste levels in real time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01568" y="3246120"/>
            <a:ext cx="2697480" cy="1170432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66160" y="344728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0" y="3502152"/>
            <a:ext cx="530352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24528" y="3410712"/>
            <a:ext cx="1737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Notify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4528" y="3730752"/>
            <a:ext cx="173736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ptos"/>
              </a:rPr>
              <a:t>Alerts when bins are full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4572000"/>
            <a:ext cx="2697480" cy="1170432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13232" y="4773168"/>
            <a:ext cx="530352" cy="53035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" y="4828032"/>
            <a:ext cx="530352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4736592"/>
            <a:ext cx="1737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Optimize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5056632"/>
            <a:ext cx="173736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ptos"/>
              </a:rPr>
              <a:t>Prioritize collection needs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01568" y="4572000"/>
            <a:ext cx="2697480" cy="1170432"/>
          </a:xfrm>
          <a:prstGeom prst="roundRect">
            <a:avLst/>
          </a:prstGeom>
          <a:solidFill>
            <a:srgbClr val="F0F9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566160" y="4773168"/>
            <a:ext cx="530352" cy="53035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66160" y="4828032"/>
            <a:ext cx="530352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24528" y="4736592"/>
            <a:ext cx="1737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Improve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5056632"/>
            <a:ext cx="173736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ptos"/>
              </a:rPr>
              <a:t>Cleaner, more efficient 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110"/>
              </a:spcAft>
            </a:pPr>
            <a:r>
              <a:rPr sz="1050" b="1" i="0">
                <a:solidFill>
                  <a:srgbClr val="2563EB"/>
                </a:solidFill>
                <a:latin typeface="Aptos"/>
              </a:rPr>
              <a:t>NEED &amp;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6070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Aptos Display"/>
              </a:rPr>
              <a:t>Why smarter waste collection is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80"/>
              </a:spcAft>
            </a:pPr>
            <a:r>
              <a:rPr sz="750" b="0" i="0">
                <a:solidFill>
                  <a:srgbClr val="475569"/>
                </a:solidFill>
                <a:latin typeface="Aptos"/>
              </a:rPr>
              <a:t>SMART WASTE MANAGEMENT  •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92240"/>
            <a:ext cx="274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4924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37360"/>
            <a:ext cx="23774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Aptos"/>
              </a:rPr>
              <a:t>CURRENT CHALLENGES</a:t>
            </a:r>
          </a:p>
        </p:txBody>
      </p:sp>
      <p:sp>
        <p:nvSpPr>
          <p:cNvPr id="9" name="Oval 8"/>
          <p:cNvSpPr/>
          <p:nvPr/>
        </p:nvSpPr>
        <p:spPr>
          <a:xfrm>
            <a:off x="859536" y="2148840"/>
            <a:ext cx="384048" cy="38404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231136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121408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Overflowing bins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395728"/>
            <a:ext cx="39319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ptos"/>
              </a:rPr>
              <a:t>Create hygiene and sanitation issues.</a:t>
            </a:r>
          </a:p>
        </p:txBody>
      </p:sp>
      <p:sp>
        <p:nvSpPr>
          <p:cNvPr id="13" name="Oval 12"/>
          <p:cNvSpPr/>
          <p:nvPr/>
        </p:nvSpPr>
        <p:spPr>
          <a:xfrm>
            <a:off x="859536" y="2953512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035808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926080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Manual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200400"/>
            <a:ext cx="39319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ptos"/>
              </a:rPr>
              <a:t>Is inefficient and difficult to scale.</a:t>
            </a:r>
          </a:p>
        </p:txBody>
      </p:sp>
      <p:sp>
        <p:nvSpPr>
          <p:cNvPr id="17" name="Oval 16"/>
          <p:cNvSpPr/>
          <p:nvPr/>
        </p:nvSpPr>
        <p:spPr>
          <a:xfrm>
            <a:off x="859536" y="3758184"/>
            <a:ext cx="384048" cy="38404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840480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730752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High costs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005072"/>
            <a:ext cx="39319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ptos"/>
              </a:rPr>
              <a:t>Fuel and labor expenses remain high.</a:t>
            </a:r>
          </a:p>
        </p:txBody>
      </p:sp>
      <p:sp>
        <p:nvSpPr>
          <p:cNvPr id="21" name="Oval 20"/>
          <p:cNvSpPr/>
          <p:nvPr/>
        </p:nvSpPr>
        <p:spPr>
          <a:xfrm>
            <a:off x="859536" y="456285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4645152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535424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Limited visibility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809744"/>
            <a:ext cx="39319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ptos"/>
              </a:rPr>
              <a:t>Lack of real-time data affects planning.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1417320"/>
            <a:ext cx="5440680" cy="448056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737360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Aptos"/>
              </a:rPr>
              <a:t>PROBLEM STATEMENT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212848"/>
            <a:ext cx="457200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Aptos"/>
              </a:rPr>
              <a:t>Traditional waste collection follows fixed schedules regardless of bin status.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154680"/>
            <a:ext cx="4526280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475569"/>
                </a:solidFill>
                <a:latin typeface="Aptos"/>
              </a:rPr>
              <a:t>This can lead to unnecessary trips, increased costs, overflowing bins, and inefficient resource utilization.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663440"/>
            <a:ext cx="1481328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79" y="4800600"/>
            <a:ext cx="129844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475569"/>
                </a:solidFill>
                <a:latin typeface="Aptos"/>
              </a:rPr>
              <a:t>TRIPS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79" y="5029200"/>
            <a:ext cx="12984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1" i="0">
                <a:solidFill>
                  <a:srgbClr val="EA580C"/>
                </a:solidFill>
                <a:latin typeface="Aptos"/>
              </a:rPr>
              <a:t>Unnecessary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4663440"/>
            <a:ext cx="1481328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800600"/>
            <a:ext cx="129844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475569"/>
                </a:solidFill>
                <a:latin typeface="Aptos"/>
              </a:rPr>
              <a:t>COSTS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029200"/>
            <a:ext cx="12984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1" i="0">
                <a:solidFill>
                  <a:srgbClr val="7C3AED"/>
                </a:solidFill>
                <a:latin typeface="Aptos"/>
              </a:rPr>
              <a:t>Higher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4663440"/>
            <a:ext cx="1481328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0" y="4800600"/>
            <a:ext cx="129844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475569"/>
                </a:solidFill>
                <a:latin typeface="Aptos"/>
              </a:rPr>
              <a:t>BINS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5029200"/>
            <a:ext cx="12984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1" i="0">
                <a:solidFill>
                  <a:srgbClr val="2563EB"/>
                </a:solidFill>
                <a:latin typeface="Aptos"/>
              </a:rPr>
              <a:t>Overflowing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110"/>
              </a:spcAft>
            </a:pPr>
            <a:r>
              <a:rPr sz="1050" b="1" i="0">
                <a:solidFill>
                  <a:srgbClr val="2563EB"/>
                </a:solidFill>
                <a:latin typeface="Apto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6070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Aptos Display"/>
              </a:rPr>
              <a:t>What the system is designed to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80"/>
              </a:spcAft>
            </a:pPr>
            <a:r>
              <a:rPr sz="750" b="0" i="0">
                <a:solidFill>
                  <a:srgbClr val="475569"/>
                </a:solidFill>
                <a:latin typeface="Aptos"/>
              </a:rPr>
              <a:t>SMART WASTE MANAGEMENT  •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92240"/>
            <a:ext cx="274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21208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59" y="1737360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56231"/>
            <a:ext cx="53035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64792"/>
            <a:ext cx="39319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Aptos"/>
              </a:rPr>
              <a:t>Monitor waste levels automatically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21208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173736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56231"/>
            <a:ext cx="53035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8" y="1764792"/>
            <a:ext cx="39319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Aptos"/>
              </a:rPr>
              <a:t>Send alerts when bins are full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07208"/>
            <a:ext cx="521208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59" y="3035808"/>
            <a:ext cx="530352" cy="53035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154679"/>
            <a:ext cx="53035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063239"/>
            <a:ext cx="39319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Aptos"/>
              </a:rPr>
              <a:t>Optimize collection routes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807208"/>
            <a:ext cx="521208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3035808"/>
            <a:ext cx="530352" cy="53035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154679"/>
            <a:ext cx="53035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6328" y="3063239"/>
            <a:ext cx="39319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Aptos"/>
              </a:rPr>
              <a:t>Improve cleanliness and sustainability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105656"/>
            <a:ext cx="521208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59" y="4334256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453128"/>
            <a:ext cx="53035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2768" y="4361688"/>
            <a:ext cx="39319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Aptos"/>
              </a:rPr>
              <a:t>Reduce operational expenses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468112"/>
            <a:ext cx="10927080" cy="566928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623560"/>
            <a:ext cx="10378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7C3AED"/>
                </a:solidFill>
                <a:latin typeface="Aptos"/>
              </a:rPr>
              <a:t>Goal: shift collection from a fixed schedule to a need-based, data-informed process.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110"/>
              </a:spcAft>
            </a:pPr>
            <a:r>
              <a:rPr sz="1050" b="1" i="0">
                <a:solidFill>
                  <a:srgbClr val="2563EB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6070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Aptos Display"/>
              </a:rPr>
              <a:t>How the smart-bin ecosystem fits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80"/>
              </a:spcAft>
            </a:pPr>
            <a:r>
              <a:rPr sz="750" b="0" i="0">
                <a:solidFill>
                  <a:srgbClr val="475569"/>
                </a:solidFill>
                <a:latin typeface="Aptos"/>
              </a:rPr>
              <a:t>SMART WASTE MANAGEMENT  •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92240"/>
            <a:ext cx="274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1874519" cy="114300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2459736"/>
            <a:ext cx="1581911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70"/>
              </a:spcAft>
            </a:pPr>
            <a:r>
              <a:rPr sz="750" b="1" i="0">
                <a:solidFill>
                  <a:srgbClr val="2563EB"/>
                </a:solidFill>
                <a:latin typeface="Aptos"/>
              </a:rPr>
              <a:t>SENSING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715768"/>
            <a:ext cx="1655063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SMART BIN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044952"/>
            <a:ext cx="1655063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Aptos"/>
              </a:rPr>
              <a:t>Sensors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2331720"/>
            <a:ext cx="1874519" cy="1143000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5224" y="2459736"/>
            <a:ext cx="1581911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70"/>
              </a:spcAft>
            </a:pPr>
            <a:r>
              <a:rPr sz="750" b="1" i="0">
                <a:solidFill>
                  <a:srgbClr val="7C3AED"/>
                </a:solidFill>
                <a:latin typeface="Aptos"/>
              </a:rPr>
              <a:t>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2715768"/>
            <a:ext cx="1655063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3044952"/>
            <a:ext cx="1655063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Aptos"/>
              </a:rPr>
              <a:t>ESP32 / Arduino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2331720"/>
            <a:ext cx="1874519" cy="1143000"/>
          </a:xfrm>
          <a:prstGeom prst="roundRect">
            <a:avLst/>
          </a:prstGeom>
          <a:solidFill>
            <a:srgbClr val="ECFE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9784" y="2459736"/>
            <a:ext cx="1581911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70"/>
              </a:spcAft>
            </a:pPr>
            <a:r>
              <a:rPr sz="750" b="1" i="0">
                <a:solidFill>
                  <a:srgbClr val="0891B2"/>
                </a:solidFill>
                <a:latin typeface="Aptos"/>
              </a:rPr>
              <a:t>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8" y="2715768"/>
            <a:ext cx="1655063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3044952"/>
            <a:ext cx="1655063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Aptos"/>
              </a:rPr>
              <a:t>GSM / Wi-Fi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2331720"/>
            <a:ext cx="1874519" cy="1143000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24344" y="2459736"/>
            <a:ext cx="1581911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70"/>
              </a:spcAft>
            </a:pPr>
            <a:r>
              <a:rPr sz="750" b="1" i="0">
                <a:solidFill>
                  <a:srgbClr val="EA580C"/>
                </a:solidFill>
                <a:latin typeface="Aptos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7768" y="2715768"/>
            <a:ext cx="1655063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CLOUD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7768" y="3044952"/>
            <a:ext cx="1655063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Aptos"/>
              </a:rPr>
              <a:t>Storage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72600" y="2331720"/>
            <a:ext cx="2194560" cy="114300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18904" y="2459736"/>
            <a:ext cx="190195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70"/>
              </a:spcAft>
            </a:pPr>
            <a:r>
              <a:rPr sz="750" b="1" i="0">
                <a:solidFill>
                  <a:srgbClr val="2563EB"/>
                </a:solidFill>
                <a:latin typeface="Aptos"/>
              </a:rPr>
              <a:t>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2715768"/>
            <a:ext cx="197510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2328" y="3044952"/>
            <a:ext cx="19751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75569"/>
                </a:solidFill>
                <a:latin typeface="Aptos"/>
              </a:rPr>
              <a:t>Monitoring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468880" y="2907792"/>
            <a:ext cx="2743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663440" y="2907792"/>
            <a:ext cx="2743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2907792"/>
            <a:ext cx="2743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052559" y="2907792"/>
            <a:ext cx="274321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14400" y="4251960"/>
            <a:ext cx="1001268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0432" y="4480560"/>
            <a:ext cx="1554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Aptos"/>
              </a:rPr>
              <a:t>SYSTEM COMPONENTS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407408"/>
            <a:ext cx="7726679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93B"/>
                </a:solidFill>
                <a:latin typeface="Aptos"/>
              </a:rPr>
              <a:t>Smart bins + sensors  →  microcontroller  →  communication  →  cloud storage  →  authority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110"/>
              </a:spcAft>
            </a:pPr>
            <a:r>
              <a:rPr sz="1050" b="1" i="0">
                <a:solidFill>
                  <a:srgbClr val="2563EB"/>
                </a:solidFill>
                <a:latin typeface="Aptos"/>
              </a:rPr>
              <a:t>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6070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Aptos Display"/>
              </a:rPr>
              <a:t>Physical components of the smart bin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80"/>
              </a:spcAft>
            </a:pPr>
            <a:r>
              <a:rPr sz="750" b="0" i="0">
                <a:solidFill>
                  <a:srgbClr val="475569"/>
                </a:solidFill>
                <a:latin typeface="Aptos"/>
              </a:rPr>
              <a:t>SMART WASTE MANAGEMENT  •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92240"/>
            <a:ext cx="274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3429000" cy="148132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709928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65376"/>
            <a:ext cx="62179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1709928"/>
            <a:ext cx="22402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Ultrasonic Sensor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2148840"/>
            <a:ext cx="22402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ptos"/>
              </a:rPr>
              <a:t>Measures the waste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81328"/>
            <a:ext cx="3429000" cy="1481328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3440" y="1709928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65376"/>
            <a:ext cx="62179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MC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1709928"/>
            <a:ext cx="22402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Microcontroller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2392" y="2148840"/>
            <a:ext cx="22402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ptos"/>
              </a:rPr>
              <a:t>ESP32 / Arduino for local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481328"/>
            <a:ext cx="3429000" cy="1481328"/>
          </a:xfrm>
          <a:prstGeom prst="roundRect">
            <a:avLst/>
          </a:prstGeom>
          <a:solidFill>
            <a:srgbClr val="ECFE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58200" y="1709928"/>
            <a:ext cx="621792" cy="62179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865376"/>
            <a:ext cx="62179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NW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1709928"/>
            <a:ext cx="22402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GSM / Wi-Fi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2148840"/>
            <a:ext cx="22402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ptos"/>
              </a:rPr>
              <a:t>Provides communication connectivity.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355848"/>
            <a:ext cx="3429000" cy="1481328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" y="3584448"/>
            <a:ext cx="621792" cy="62179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739896"/>
            <a:ext cx="62179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PWR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3584448"/>
            <a:ext cx="22402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Power Supply / Battery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27632" y="4023360"/>
            <a:ext cx="22402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ptos"/>
              </a:rPr>
              <a:t>Provides operating power.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355848"/>
            <a:ext cx="3429000" cy="148132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3440" y="3584448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3739896"/>
            <a:ext cx="62179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BIN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22392" y="3584448"/>
            <a:ext cx="22402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Smart Waste Bin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22392" y="4023360"/>
            <a:ext cx="22402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ptos"/>
              </a:rPr>
              <a:t>Provides the physical bin structure.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110"/>
              </a:spcAft>
            </a:pPr>
            <a:r>
              <a:rPr sz="1050" b="1" i="0">
                <a:solidFill>
                  <a:srgbClr val="2563EB"/>
                </a:solidFill>
                <a:latin typeface="Aptos"/>
              </a:rPr>
              <a:t>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6070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Aptos Display"/>
              </a:rPr>
              <a:t>The digital layer behind monitoring and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80"/>
              </a:spcAft>
            </a:pPr>
            <a:r>
              <a:rPr sz="750" b="0" i="0">
                <a:solidFill>
                  <a:srgbClr val="475569"/>
                </a:solidFill>
                <a:latin typeface="Aptos"/>
              </a:rPr>
              <a:t>SMART WASTE MANAGEMENT  •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92240"/>
            <a:ext cx="274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3564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61848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9928"/>
            <a:ext cx="384048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09344"/>
            <a:ext cx="31089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Embedded 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6309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ptos"/>
              </a:rPr>
              <a:t>Controls sensing and device behavior.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322576"/>
            <a:ext cx="1083564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459736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51176"/>
            <a:ext cx="384048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450592"/>
            <a:ext cx="31089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IoT cloud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41448"/>
            <a:ext cx="6309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ptos"/>
              </a:rPr>
              <a:t>Receives and stores transmitted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163824"/>
            <a:ext cx="1083564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3300984"/>
            <a:ext cx="384048" cy="38404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92424"/>
            <a:ext cx="384048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291840"/>
            <a:ext cx="31089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Database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282696"/>
            <a:ext cx="6309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ptos"/>
              </a:rPr>
              <a:t>Maintains waste-level information.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005072"/>
            <a:ext cx="1083564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142232"/>
            <a:ext cx="384048" cy="38404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33672"/>
            <a:ext cx="384048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133088"/>
            <a:ext cx="31089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123944"/>
            <a:ext cx="6309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ptos"/>
              </a:rPr>
              <a:t>Visualizes system status for authorities.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846320"/>
            <a:ext cx="1083564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498348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074920"/>
            <a:ext cx="384048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974336"/>
            <a:ext cx="31089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Mobile / Web notifications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965192"/>
            <a:ext cx="6309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ptos"/>
              </a:rPr>
              <a:t>Delivers alerts and updates.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110"/>
              </a:spcAft>
            </a:pPr>
            <a:r>
              <a:rPr sz="1050" b="1" i="0">
                <a:solidFill>
                  <a:srgbClr val="2563EB"/>
                </a:solidFill>
                <a:latin typeface="Aptos"/>
              </a:rPr>
              <a:t>WORKING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6070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Aptos Display"/>
              </a:rPr>
              <a:t>From sensing a bin to triggering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80"/>
              </a:spcAft>
            </a:pPr>
            <a:r>
              <a:rPr sz="750" b="0" i="0">
                <a:solidFill>
                  <a:srgbClr val="475569"/>
                </a:solidFill>
                <a:latin typeface="Aptos"/>
              </a:rPr>
              <a:t>SMART WASTE MANAGEMENT  •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92240"/>
            <a:ext cx="274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8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694944" cy="69494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39112"/>
            <a:ext cx="69494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761488"/>
            <a:ext cx="11430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Sensor detects waste level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89888" y="2176272"/>
            <a:ext cx="1307592" cy="0"/>
          </a:xfrm>
          <a:prstGeom prst="line">
            <a:avLst/>
          </a:prstGeom>
          <a:ln w="228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898648" y="1828800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8648" y="2039112"/>
            <a:ext cx="69494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2761488"/>
            <a:ext cx="11430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Data is sent to the controller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48456" y="2176272"/>
            <a:ext cx="1307592" cy="0"/>
          </a:xfrm>
          <a:prstGeom prst="line">
            <a:avLst/>
          </a:prstGeom>
          <a:ln w="228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157216" y="1828800"/>
            <a:ext cx="694944" cy="69494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7216" y="2039112"/>
            <a:ext cx="69494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8616" y="2761488"/>
            <a:ext cx="11430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Controller uploads data to the cloud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07024" y="2176272"/>
            <a:ext cx="1307592" cy="0"/>
          </a:xfrm>
          <a:prstGeom prst="line">
            <a:avLst/>
          </a:prstGeom>
          <a:ln w="228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415783" y="1828800"/>
            <a:ext cx="694944" cy="69494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5783" y="2039112"/>
            <a:ext cx="69494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7183" y="2761488"/>
            <a:ext cx="11430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Authorities receive alerts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165592" y="2176272"/>
            <a:ext cx="1307592" cy="0"/>
          </a:xfrm>
          <a:prstGeom prst="line">
            <a:avLst/>
          </a:prstGeom>
          <a:ln w="228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674352" y="1828800"/>
            <a:ext cx="694944" cy="69494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74352" y="2039112"/>
            <a:ext cx="69494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5752" y="2761488"/>
            <a:ext cx="11430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Collection team empties bins by priority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709160"/>
            <a:ext cx="9829800" cy="786384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4946904"/>
            <a:ext cx="92811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Continuous cycle: sense → transmit → monitor → alert → collect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110"/>
              </a:spcAft>
            </a:pPr>
            <a:r>
              <a:rPr sz="1050" b="1" i="0">
                <a:solidFill>
                  <a:srgbClr val="2563EB"/>
                </a:solidFill>
                <a:latin typeface="Aptos"/>
              </a:rPr>
              <a:t>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6070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Aptos Display"/>
              </a:rPr>
              <a:t>A clear path from waste level to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80"/>
              </a:spcAft>
            </a:pPr>
            <a:r>
              <a:rPr sz="750" b="0" i="0">
                <a:solidFill>
                  <a:srgbClr val="475569"/>
                </a:solidFill>
                <a:latin typeface="Aptos"/>
              </a:rPr>
              <a:t>SMART WASTE MANAGEMENT  •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92240"/>
            <a:ext cx="274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240280"/>
            <a:ext cx="1426464" cy="141732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487168"/>
            <a:ext cx="1243584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1" i="0">
                <a:solidFill>
                  <a:srgbClr val="0F172A"/>
                </a:solidFill>
                <a:latin typeface="Aptos"/>
              </a:rPr>
              <a:t>Waste Bin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81528"/>
            <a:ext cx="124358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475569"/>
                </a:solidFill>
                <a:latin typeface="Aptos"/>
              </a:rPr>
              <a:t>Physical waste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65376" y="2953512"/>
            <a:ext cx="192024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093976" y="2240280"/>
            <a:ext cx="1426464" cy="1417320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85416" y="2487168"/>
            <a:ext cx="1243584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1" i="0">
                <a:solidFill>
                  <a:srgbClr val="0F172A"/>
                </a:solidFill>
                <a:latin typeface="Aptos"/>
              </a:rPr>
              <a:t>Sensor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85416" y="3081528"/>
            <a:ext cx="124358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475569"/>
                </a:solidFill>
                <a:latin typeface="Aptos"/>
              </a:rPr>
              <a:t>Waste level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47872" y="2953512"/>
            <a:ext cx="192024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76472" y="2240280"/>
            <a:ext cx="1426464" cy="1417320"/>
          </a:xfrm>
          <a:prstGeom prst="roundRect">
            <a:avLst/>
          </a:prstGeom>
          <a:solidFill>
            <a:srgbClr val="ECFE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7911" y="2487168"/>
            <a:ext cx="1243584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1" i="0">
                <a:solidFill>
                  <a:srgbClr val="0F172A"/>
                </a:solidFill>
                <a:latin typeface="Aptos"/>
              </a:rPr>
              <a:t>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7911" y="3081528"/>
            <a:ext cx="124358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475569"/>
                </a:solidFill>
                <a:latin typeface="Aptos"/>
              </a:rPr>
              <a:t>Process data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30368" y="2953512"/>
            <a:ext cx="192024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58968" y="2240280"/>
            <a:ext cx="1426464" cy="1417320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0408" y="2487168"/>
            <a:ext cx="1243584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1" i="0">
                <a:solidFill>
                  <a:srgbClr val="0F172A"/>
                </a:solidFill>
                <a:latin typeface="Aptos"/>
              </a:rPr>
              <a:t>Network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0408" y="3081528"/>
            <a:ext cx="124358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475569"/>
                </a:solidFill>
                <a:latin typeface="Aptos"/>
              </a:rPr>
              <a:t>Transmit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12864" y="2953512"/>
            <a:ext cx="192024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41464" y="2240280"/>
            <a:ext cx="1426464" cy="141732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2487168"/>
            <a:ext cx="1243584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1" i="0">
                <a:solidFill>
                  <a:srgbClr val="0F172A"/>
                </a:solidFill>
                <a:latin typeface="Aptos"/>
              </a:rPr>
              <a:t>Cloud 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3081528"/>
            <a:ext cx="124358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475569"/>
                </a:solidFill>
                <a:latin typeface="Aptos"/>
              </a:rPr>
              <a:t>Store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95360" y="2953512"/>
            <a:ext cx="192024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23960" y="2240280"/>
            <a:ext cx="1426464" cy="1417320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400" y="2487168"/>
            <a:ext cx="1243584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1" i="0">
                <a:solidFill>
                  <a:srgbClr val="0F172A"/>
                </a:solidFill>
                <a:latin typeface="Aptos"/>
              </a:rPr>
              <a:t>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3081528"/>
            <a:ext cx="124358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475569"/>
                </a:solidFill>
                <a:latin typeface="Aptos"/>
              </a:rPr>
              <a:t>Visualize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277856" y="2953512"/>
            <a:ext cx="192024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506456" y="2240280"/>
            <a:ext cx="1426464" cy="1417320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97896" y="2487168"/>
            <a:ext cx="1243584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1" i="0">
                <a:solidFill>
                  <a:srgbClr val="0F172A"/>
                </a:solidFill>
                <a:latin typeface="Aptos"/>
              </a:rPr>
              <a:t>User Alerts &amp; Reports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97896" y="3081528"/>
            <a:ext cx="124358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475569"/>
                </a:solidFill>
                <a:latin typeface="Aptos"/>
              </a:rPr>
              <a:t>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343400"/>
            <a:ext cx="108356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E293B"/>
                </a:solidFill>
                <a:latin typeface="Aptos"/>
              </a:rPr>
              <a:t>Waste Bin  →  Sensor  →  Controller  →  Network Module  →  Cloud Database  →  Dashboard  →  User Alerts &amp; Reports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110"/>
              </a:spcAft>
            </a:pPr>
            <a:r>
              <a:rPr sz="1050" b="1" i="0">
                <a:solidFill>
                  <a:srgbClr val="2563EB"/>
                </a:solidFill>
                <a:latin typeface="Aptos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6070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Aptos Display"/>
              </a:rPr>
              <a:t>Turning the concept into a working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80"/>
              </a:spcAft>
            </a:pPr>
            <a:r>
              <a:rPr sz="750" b="0" i="0">
                <a:solidFill>
                  <a:srgbClr val="475569"/>
                </a:solidFill>
                <a:latin typeface="Aptos"/>
              </a:rPr>
              <a:t>SMART WASTE MANAGEMENT  •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92240"/>
            <a:ext cx="274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512064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37360"/>
            <a:ext cx="2651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Aptos"/>
              </a:rPr>
              <a:t>PROTOTYPE IMPLEMENTATION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240280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40864"/>
            <a:ext cx="420624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2221992"/>
            <a:ext cx="35661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Integrate sensors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523744"/>
            <a:ext cx="35661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ptos"/>
              </a:rPr>
              <a:t>Sensors are connected with a microcontroller.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22783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28416"/>
            <a:ext cx="420624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3209544"/>
            <a:ext cx="35661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Transmit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3511296"/>
            <a:ext cx="35661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ptos"/>
              </a:rPr>
              <a:t>Real-time data is sent to a cloud platform.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215384"/>
            <a:ext cx="420624" cy="42062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15968"/>
            <a:ext cx="420624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197096"/>
            <a:ext cx="35661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Monitor levels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4498848"/>
            <a:ext cx="35661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ptos"/>
              </a:rPr>
              <a:t>Waste levels are monitored through a dashboard.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1417320"/>
            <a:ext cx="5486400" cy="434340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737360"/>
            <a:ext cx="23774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Aptos"/>
              </a:rPr>
              <a:t>IMPLEMENTATION FLOW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2423160"/>
            <a:ext cx="658368" cy="6583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3246120"/>
            <a:ext cx="11155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Aptos"/>
              </a:rPr>
              <a:t>Sensors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41464" y="2752344"/>
            <a:ext cx="448056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680960" y="2423160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3246120"/>
            <a:ext cx="11155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Aptos"/>
              </a:rPr>
              <a:t>Microcontroller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75904" y="2752344"/>
            <a:ext cx="448056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915400" y="2423160"/>
            <a:ext cx="658368" cy="65836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3246120"/>
            <a:ext cx="11155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Aptos"/>
              </a:rPr>
              <a:t>Cloud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610344" y="2752344"/>
            <a:ext cx="448056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149840" y="2423160"/>
            <a:ext cx="658368" cy="6583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21240" y="3246120"/>
            <a:ext cx="11155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Aptos"/>
              </a:rPr>
              <a:t>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069080"/>
            <a:ext cx="470916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93B"/>
                </a:solidFill>
                <a:latin typeface="Aptos"/>
              </a:rPr>
              <a:t>Real-time data is transmitted to a cloud platform where waste levels are monitored through a dashboard.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110"/>
              </a:spcAft>
            </a:pPr>
            <a:r>
              <a:rPr sz="1050" b="1" i="0">
                <a:solidFill>
                  <a:srgbClr val="2563EB"/>
                </a:solidFill>
                <a:latin typeface="Aptos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6070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Aptos Display"/>
              </a:rPr>
              <a:t>What makes the system smart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80"/>
              </a:spcAft>
            </a:pPr>
            <a:r>
              <a:rPr sz="750" b="0" i="0">
                <a:solidFill>
                  <a:srgbClr val="475569"/>
                </a:solidFill>
                <a:latin typeface="Aptos"/>
              </a:rPr>
              <a:t>SMART WASTE MANAGEMENT  •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92240"/>
            <a:ext cx="274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349300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5528" y="1709928"/>
            <a:ext cx="493776" cy="49377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837943"/>
            <a:ext cx="493776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691639"/>
            <a:ext cx="2331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Real-time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2167128"/>
            <a:ext cx="23317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475569"/>
                </a:solidFill>
                <a:latin typeface="Aptos"/>
              </a:rPr>
              <a:t>Continuous visibility of waste levels.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508760"/>
            <a:ext cx="349300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0" y="170992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837943"/>
            <a:ext cx="493776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691639"/>
            <a:ext cx="2331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Automatic notifications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167128"/>
            <a:ext cx="23317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475569"/>
                </a:solidFill>
                <a:latin typeface="Aptos"/>
              </a:rPr>
              <a:t>Alerts when attention is required.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38744" y="1508760"/>
            <a:ext cx="349300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39912" y="1709928"/>
            <a:ext cx="493776" cy="49377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2" y="1837943"/>
            <a:ext cx="493776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1691639"/>
            <a:ext cx="2331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Route optimization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2167128"/>
            <a:ext cx="23317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475569"/>
                </a:solidFill>
                <a:latin typeface="Aptos"/>
              </a:rPr>
              <a:t>Supports priority-based collection.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474720"/>
            <a:ext cx="349300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5528" y="3675887"/>
            <a:ext cx="493776" cy="493776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803904"/>
            <a:ext cx="493776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608" y="3657600"/>
            <a:ext cx="2331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Data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35608" y="4133087"/>
            <a:ext cx="23317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475569"/>
                </a:solidFill>
                <a:latin typeface="Aptos"/>
              </a:rPr>
              <a:t>Uses stored information for decisions.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6552" y="3474720"/>
            <a:ext cx="349300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17720" y="3675887"/>
            <a:ext cx="493776" cy="49377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803904"/>
            <a:ext cx="493776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3657600"/>
            <a:ext cx="2331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Remote accessibility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4133087"/>
            <a:ext cx="23317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475569"/>
                </a:solidFill>
                <a:latin typeface="Aptos"/>
              </a:rPr>
              <a:t>Monitoring through a dashboard.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38744" y="3474720"/>
            <a:ext cx="349300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39912" y="3675887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9912" y="3803904"/>
            <a:ext cx="493776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9992" y="3657600"/>
            <a:ext cx="2331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Scalable architecture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9992" y="4133087"/>
            <a:ext cx="23317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475569"/>
                </a:solidFill>
                <a:latin typeface="Aptos"/>
              </a:rPr>
              <a:t>Designed for broader deployment.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110"/>
              </a:spcAft>
            </a:pPr>
            <a:r>
              <a:rPr sz="1050" b="1" i="0">
                <a:solidFill>
                  <a:srgbClr val="2563EB"/>
                </a:solidFill>
                <a:latin typeface="Aptos"/>
              </a:rP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6070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Aptos Display"/>
              </a:rPr>
              <a:t>Operational and environmental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80"/>
              </a:spcAft>
            </a:pPr>
            <a:r>
              <a:rPr sz="750" b="0" i="0">
                <a:solidFill>
                  <a:srgbClr val="475569"/>
                </a:solidFill>
                <a:latin typeface="Aptos"/>
              </a:rPr>
              <a:t>SMART WASTE MANAGEMENT  •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92240"/>
            <a:ext cx="274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6984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572768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73352"/>
            <a:ext cx="402336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527048"/>
            <a:ext cx="3200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Cleaner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527048"/>
            <a:ext cx="6126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ptos"/>
              </a:rPr>
              <a:t>Supports cleaner surroundings.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13432"/>
            <a:ext cx="106984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2468880"/>
            <a:ext cx="402336" cy="40233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569464"/>
            <a:ext cx="402336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423160"/>
            <a:ext cx="3200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Reduced fuel consumption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423160"/>
            <a:ext cx="6126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ptos"/>
              </a:rPr>
              <a:t>Avoids unnecessary collection trips.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09544"/>
            <a:ext cx="106984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364991"/>
            <a:ext cx="402336" cy="40233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465576"/>
            <a:ext cx="402336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319272"/>
            <a:ext cx="3200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Better workforce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319272"/>
            <a:ext cx="6126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ptos"/>
              </a:rPr>
              <a:t>Collection can be prioritized.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05656"/>
            <a:ext cx="106984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4261104"/>
            <a:ext cx="402336" cy="402336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361688"/>
            <a:ext cx="402336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215384"/>
            <a:ext cx="3200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Lower maintenance costs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215384"/>
            <a:ext cx="6126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ptos"/>
              </a:rPr>
              <a:t>Improves resource utilization.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001768"/>
            <a:ext cx="106984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5157216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257800"/>
            <a:ext cx="402336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111496"/>
            <a:ext cx="3200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Improved public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111496"/>
            <a:ext cx="6126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ptos"/>
              </a:rPr>
              <a:t>Supports sanitation and hygiene.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8800" y="5897880"/>
            <a:ext cx="8503920" cy="384048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0" y="5989320"/>
            <a:ext cx="8138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7C3AED"/>
                </a:solidFill>
                <a:latin typeface="Aptos"/>
              </a:rPr>
              <a:t>Better information → better collection decisions → better city services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110"/>
              </a:spcAft>
            </a:pPr>
            <a:r>
              <a:rPr sz="1050" b="1" i="0">
                <a:solidFill>
                  <a:srgbClr val="2563EB"/>
                </a:solidFill>
                <a:latin typeface="Aptos"/>
              </a:rPr>
              <a:t>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6070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Aptos Display"/>
              </a:rPr>
              <a:t>Where smart waste management can be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80"/>
              </a:spcAft>
            </a:pPr>
            <a:r>
              <a:rPr sz="750" b="0" i="0">
                <a:solidFill>
                  <a:srgbClr val="475569"/>
                </a:solidFill>
                <a:latin typeface="Aptos"/>
              </a:rPr>
              <a:t>SMART WASTE MANAGEMENT  •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92240"/>
            <a:ext cx="274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81328"/>
            <a:ext cx="3493008" cy="144475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1709928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475488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00784"/>
            <a:ext cx="2331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Smart Cities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48840"/>
            <a:ext cx="2331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City-scale waste monitoring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481328"/>
            <a:ext cx="3493008" cy="1444752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45152" y="1709928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828800"/>
            <a:ext cx="475488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2" y="1700784"/>
            <a:ext cx="2331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Universities &amp; Campuses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2" y="2148840"/>
            <a:ext cx="2331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Campus collection 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38744" y="1481328"/>
            <a:ext cx="3493008" cy="144475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67344" y="1709928"/>
            <a:ext cx="475488" cy="47548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1828800"/>
            <a:ext cx="475488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1700784"/>
            <a:ext cx="2331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Residential Communities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148840"/>
            <a:ext cx="2331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Community bin monitoring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355848"/>
            <a:ext cx="3493008" cy="1444752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3584448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703320"/>
            <a:ext cx="475488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575304"/>
            <a:ext cx="2331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Hospitals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023360"/>
            <a:ext cx="2331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High-priority sanitation support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6552" y="3355848"/>
            <a:ext cx="3493008" cy="144475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45152" y="3584448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5152" y="3703320"/>
            <a:ext cx="475488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85232" y="3575304"/>
            <a:ext cx="2331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Shopping Malls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5232" y="4023360"/>
            <a:ext cx="2331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High-footfall waste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38744" y="3355848"/>
            <a:ext cx="3493008" cy="1444752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67344" y="3584448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67344" y="3703320"/>
            <a:ext cx="475488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07424" y="3575304"/>
            <a:ext cx="2331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Industrial Areas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07424" y="4023360"/>
            <a:ext cx="2331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Aptos"/>
              </a:rPr>
              <a:t>Operational waste monitoring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110"/>
              </a:spcAft>
            </a:pPr>
            <a:r>
              <a:rPr sz="1050" b="1" i="0">
                <a:solidFill>
                  <a:srgbClr val="2563EB"/>
                </a:solidFill>
                <a:latin typeface="Aptos"/>
              </a:rPr>
              <a:t>RESULTS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6070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Aptos Display"/>
              </a:rPr>
              <a:t>What the proposed system contributes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80"/>
              </a:spcAft>
            </a:pPr>
            <a:r>
              <a:rPr sz="750" b="0" i="0">
                <a:solidFill>
                  <a:srgbClr val="475569"/>
                </a:solidFill>
                <a:latin typeface="Aptos"/>
              </a:rPr>
              <a:t>SMART WASTE MANAGEMENT  •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92240"/>
            <a:ext cx="274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24871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19656"/>
            <a:ext cx="2157984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2563EB"/>
                </a:solidFill>
                <a:latin typeface="Aptos"/>
              </a:rPr>
              <a:t>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95144"/>
            <a:ext cx="215798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60"/>
              </a:spcAft>
            </a:pPr>
            <a:r>
              <a:rPr sz="850" b="0" i="0">
                <a:solidFill>
                  <a:srgbClr val="475569"/>
                </a:solidFill>
                <a:latin typeface="Aptos"/>
              </a:rPr>
              <a:t>COLLECTION EFFICIENCY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08760"/>
            <a:ext cx="24871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1819656"/>
            <a:ext cx="2157984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7C3AED"/>
                </a:solidFill>
                <a:latin typeface="Aptos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295144"/>
            <a:ext cx="215798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60"/>
              </a:spcAft>
            </a:pPr>
            <a:r>
              <a:rPr sz="850" b="0" i="0">
                <a:solidFill>
                  <a:srgbClr val="475569"/>
                </a:solidFill>
                <a:latin typeface="Aptos"/>
              </a:rPr>
              <a:t>OVERFLOWING BINS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6752" y="1508760"/>
            <a:ext cx="24871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1344" y="1819656"/>
            <a:ext cx="2157984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EA580C"/>
                </a:solidFill>
                <a:latin typeface="Aptos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2295144"/>
            <a:ext cx="215798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60"/>
              </a:spcAft>
            </a:pPr>
            <a:r>
              <a:rPr sz="850" b="0" i="0">
                <a:solidFill>
                  <a:srgbClr val="475569"/>
                </a:solidFill>
                <a:latin typeface="Aptos"/>
              </a:rPr>
              <a:t>COLLECTION FREQUENCY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95944" y="1508760"/>
            <a:ext cx="24871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0536" y="1819656"/>
            <a:ext cx="2157984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0891B2"/>
                </a:solidFill>
                <a:latin typeface="Aptos"/>
              </a:rPr>
              <a:t>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0536" y="2295144"/>
            <a:ext cx="215798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60"/>
              </a:spcAft>
            </a:pPr>
            <a:r>
              <a:rPr sz="850" b="0" i="0">
                <a:solidFill>
                  <a:srgbClr val="475569"/>
                </a:solidFill>
                <a:latin typeface="Aptos"/>
              </a:rPr>
              <a:t>DATA-DRIVEN DECISIONS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383280"/>
            <a:ext cx="1051560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685032"/>
            <a:ext cx="1828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Aptos"/>
              </a:rPr>
              <a:t>IMPACT SUMMARY</a:t>
            </a:r>
          </a:p>
        </p:txBody>
      </p:sp>
      <p:sp>
        <p:nvSpPr>
          <p:cNvPr id="21" name="Oval 20"/>
          <p:cNvSpPr/>
          <p:nvPr/>
        </p:nvSpPr>
        <p:spPr>
          <a:xfrm>
            <a:off x="987552" y="420624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0432" y="4114800"/>
            <a:ext cx="9418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Aptos"/>
              </a:rPr>
              <a:t>Improves waste collection efficiency.</a:t>
            </a:r>
          </a:p>
        </p:txBody>
      </p:sp>
      <p:sp>
        <p:nvSpPr>
          <p:cNvPr id="23" name="Oval 22"/>
          <p:cNvSpPr/>
          <p:nvPr/>
        </p:nvSpPr>
        <p:spPr>
          <a:xfrm>
            <a:off x="987552" y="4517136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4425696"/>
            <a:ext cx="9418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Aptos"/>
              </a:rPr>
              <a:t>Minimizes overflowing bins.</a:t>
            </a:r>
          </a:p>
        </p:txBody>
      </p:sp>
      <p:sp>
        <p:nvSpPr>
          <p:cNvPr id="25" name="Oval 24"/>
          <p:cNvSpPr/>
          <p:nvPr/>
        </p:nvSpPr>
        <p:spPr>
          <a:xfrm>
            <a:off x="987552" y="4828031"/>
            <a:ext cx="91440" cy="9144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2" y="4736592"/>
            <a:ext cx="9418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Aptos"/>
              </a:rPr>
              <a:t>Reduces collection frequency.</a:t>
            </a:r>
          </a:p>
        </p:txBody>
      </p:sp>
      <p:sp>
        <p:nvSpPr>
          <p:cNvPr id="27" name="Oval 26"/>
          <p:cNvSpPr/>
          <p:nvPr/>
        </p:nvSpPr>
        <p:spPr>
          <a:xfrm>
            <a:off x="987552" y="5138927"/>
            <a:ext cx="91440" cy="9144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0432" y="5047488"/>
            <a:ext cx="9418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Aptos"/>
              </a:rPr>
              <a:t>Supports data-driven decision-making.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110"/>
              </a:spcAft>
            </a:pPr>
            <a:r>
              <a:rPr sz="1050" b="1" i="0">
                <a:solidFill>
                  <a:srgbClr val="2563EB"/>
                </a:solidFill>
                <a:latin typeface="Aptos"/>
              </a:rPr>
              <a:t>FUTURE SCOPE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6070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Aptos Display"/>
              </a:rPr>
              <a:t>A foundation for smarter, more sustainable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80"/>
              </a:spcAft>
            </a:pPr>
            <a:r>
              <a:rPr sz="750" b="0" i="0">
                <a:solidFill>
                  <a:srgbClr val="475569"/>
                </a:solidFill>
                <a:latin typeface="Aptos"/>
              </a:rPr>
              <a:t>SMART WASTE MANAGEMENT  •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92240"/>
            <a:ext cx="274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71600"/>
            <a:ext cx="548640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91640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Aptos"/>
              </a:rPr>
              <a:t>FUTURE ENHANCEMENTS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30428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212848"/>
            <a:ext cx="4434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Aptos"/>
              </a:rPr>
              <a:t>AI-based waste prediction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2962656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871215"/>
            <a:ext cx="4434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Aptos"/>
              </a:rPr>
              <a:t>Image-based waste classification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3621024"/>
            <a:ext cx="91440" cy="9144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3529584"/>
            <a:ext cx="4434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Aptos"/>
              </a:rPr>
              <a:t>Renewable energy-powered bins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279392"/>
            <a:ext cx="91440" cy="9144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187952"/>
            <a:ext cx="4434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Aptos"/>
              </a:rPr>
              <a:t>City-wide deployment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371600"/>
            <a:ext cx="5166360" cy="452628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1691640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2563EB"/>
                </a:solidFill>
                <a:latin typeface="Aptos"/>
              </a:rPr>
              <a:t>CONCLUSION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2194560"/>
            <a:ext cx="434340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Aptos"/>
              </a:rPr>
              <a:t>Smart Waste Management combines sensing, communication, cloud monitoring and alerts to support efficient waste collection.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3703320"/>
            <a:ext cx="434340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75569"/>
                </a:solidFill>
                <a:latin typeface="Aptos"/>
              </a:rPr>
              <a:t>It contributes to sustainable urban development and efficient resource utilization.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56832" y="4754880"/>
            <a:ext cx="43434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4956048"/>
            <a:ext cx="3977639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"/>
              </a:spcAft>
            </a:pPr>
            <a:r>
              <a:rPr sz="850" b="1" i="0">
                <a:solidFill>
                  <a:srgbClr val="7C3AED"/>
                </a:solidFill>
                <a:latin typeface="Aptos"/>
              </a:rPr>
              <a:t>SMARTER MONITORING  •  BETTER DECISIONS  •  CLEANER SURROUNDINGS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199632"/>
            <a:ext cx="107899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Aptos"/>
              </a:rPr>
              <a:t>Thank You  •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